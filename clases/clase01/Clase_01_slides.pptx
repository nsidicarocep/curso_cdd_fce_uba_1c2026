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B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96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36576" cy="5088636"/>
          </a:xfrm>
          <a:prstGeom prst="rect">
            <a:avLst/>
          </a:prstGeom>
          <a:solidFill>
            <a:srgbClr val="2E9EBF">
              <a:alpha val="6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64008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645920"/>
            <a:ext cx="7680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Lógica de Programación</a:t>
            </a:r>
            <a:endParaRPr lang="en-US" sz="3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 Pseudocódigo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3200400" y="3063240"/>
            <a:ext cx="2743200" cy="22860"/>
          </a:xfrm>
          <a:prstGeom prst="rect">
            <a:avLst/>
          </a:prstGeom>
          <a:solidFill>
            <a:srgbClr val="E8963E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32461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E9E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1  |  Unidad 1: Programación en 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3794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7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Facultad de Ciencias Económicas — Universidad de Buenos Aires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7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1er Cuatrimestre 2026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71520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Ciencia de Datos para Economía y Negocios  |  FCE-UBA  |  Nicolás Sidicaro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963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Objetivos de la clase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no vamos a usar la computadora. Vamos a pensar.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786384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17320"/>
            <a:ext cx="54864" cy="658368"/>
          </a:xfrm>
          <a:prstGeom prst="rect">
            <a:avLst/>
          </a:prstGeom>
          <a:solidFill>
            <a:srgbClr val="1A6B8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527048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1463040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Desarrollar pensamiento computacional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508760" y="1764792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Aprender a descomponer problemas complejos en pasos simples y ordenados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0080" y="2194560"/>
            <a:ext cx="786384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0080" y="2194560"/>
            <a:ext cx="54864" cy="658368"/>
          </a:xfrm>
          <a:prstGeom prst="rect">
            <a:avLst/>
          </a:prstGeom>
          <a:solidFill>
            <a:srgbClr val="1A6B8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304288"/>
            <a:ext cx="438912" cy="4389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08760" y="2240280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Escribir pseudocódigo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1508760" y="2542032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Expresar algoritmos en lenguaje natural estructurado, sin depender de un lenguaje de programación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40080" y="2971800"/>
            <a:ext cx="786384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0080" y="2971800"/>
            <a:ext cx="54864" cy="658368"/>
          </a:xfrm>
          <a:prstGeom prst="rect">
            <a:avLst/>
          </a:prstGeom>
          <a:solidFill>
            <a:srgbClr val="1A6B8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081528"/>
            <a:ext cx="438912" cy="4389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08760" y="3017520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Entender tipos de datos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1508760" y="3319272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Conocer las estructuras básicas que usan las computadoras para representar información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40080" y="3749040"/>
            <a:ext cx="786384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0080" y="3749040"/>
            <a:ext cx="54864" cy="658368"/>
          </a:xfrm>
          <a:prstGeom prst="rect">
            <a:avLst/>
          </a:prstGeom>
          <a:solidFill>
            <a:srgbClr val="1A6B8A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858768"/>
            <a:ext cx="438912" cy="43891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508760" y="3794760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Resolver problemas económicos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1508760" y="4096512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estos conceptos a situaciones concretas del análisis económico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2B46"/>
          </a:solidFill>
          <a:ln/>
        </p:spPr>
      </p:sp>
      <p:sp>
        <p:nvSpPr>
          <p:cNvPr id="26" name="Text 20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DC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Ciencia de Datos para Economía y Negocios  |  FCE-UBA  |  Nicolás Sidicaro</a:t>
            </a:r>
            <a:endParaRPr lang="en-US" sz="850" dirty="0"/>
          </a:p>
        </p:txBody>
      </p:sp>
      <p:sp>
        <p:nvSpPr>
          <p:cNvPr id="27" name="Text 21"/>
          <p:cNvSpPr/>
          <p:nvPr/>
        </p:nvSpPr>
        <p:spPr>
          <a:xfrm>
            <a:off x="8046720" y="4709160"/>
            <a:ext cx="914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963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Pensamiento Computacional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pensar como una computadora. Es pensar de manera estructurada para que una computadora (o una persona) pueda resolver un problema paso a paso.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38862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91640"/>
            <a:ext cx="3886200" cy="54864"/>
          </a:xfrm>
          <a:prstGeom prst="rect">
            <a:avLst/>
          </a:prstGeom>
          <a:solidFill>
            <a:srgbClr val="1A6B8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56232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8288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Descomposición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325880" y="21488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Dividir un problema grande en partes mas pequenas y manejables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22960" y="251460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Analizar el empleo en Argentina → dividir por sector, region, periodo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800600" y="1691640"/>
            <a:ext cx="38862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00600" y="1691640"/>
            <a:ext cx="3886200" cy="54864"/>
          </a:xfrm>
          <a:prstGeom prst="rect">
            <a:avLst/>
          </a:prstGeom>
          <a:solidFill>
            <a:srgbClr val="1A6B8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856232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86400" y="18288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Reconocimiento de patrones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486400" y="21488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similitudes y tendencias en los datos o problemas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4983480" y="251460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Notar que la inflación sube siempre después de una devaluación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640080" y="3108960"/>
            <a:ext cx="38862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40080" y="3108960"/>
            <a:ext cx="3886200" cy="54864"/>
          </a:xfrm>
          <a:prstGeom prst="rect">
            <a:avLst/>
          </a:prstGeom>
          <a:solidFill>
            <a:srgbClr val="2E9EBF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273552"/>
            <a:ext cx="384048" cy="38404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325880" y="32461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Abstracción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325880" y="35661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Quedarse con lo esencial e ignorar los detalles irrelevantes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822960" y="393192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Para analizar pobreza, enfocarse en ingreso y canasta básica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4800600" y="3108960"/>
            <a:ext cx="38862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800600" y="3108960"/>
            <a:ext cx="3886200" cy="54864"/>
          </a:xfrm>
          <a:prstGeom prst="rect">
            <a:avLst/>
          </a:prstGeom>
          <a:solidFill>
            <a:srgbClr val="2E9EBF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273552"/>
            <a:ext cx="384048" cy="38404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486400" y="32461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Diseño de algoritmos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5486400" y="35661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una secuencia ordenada de pasos para resolver el problema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4983480" y="393192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1) Cargar datos → 2) Filtrar → 3) Calcular → 4) Graficar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2B46"/>
          </a:solidFill>
          <a:ln/>
        </p:spPr>
      </p:sp>
      <p:sp>
        <p:nvSpPr>
          <p:cNvPr id="30" name="Text 24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DC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Ciencia de Datos para Economía y Negocios  |  FCE-UBA  |  Nicolás Sidicaro</a:t>
            </a:r>
            <a:endParaRPr lang="en-US" sz="850" dirty="0"/>
          </a:p>
        </p:txBody>
      </p:sp>
      <p:sp>
        <p:nvSpPr>
          <p:cNvPr id="31" name="Text 25"/>
          <p:cNvSpPr/>
          <p:nvPr/>
        </p:nvSpPr>
        <p:spPr>
          <a:xfrm>
            <a:off x="8046720" y="4709160"/>
            <a:ext cx="914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963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Ejemplo: descomponer un problema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7863840" cy="640080"/>
          </a:xfrm>
          <a:prstGeom prst="rect">
            <a:avLst/>
          </a:prstGeom>
          <a:solidFill>
            <a:srgbClr val="0F2B4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115568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00584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 Queremos saber si el salario real promedio en Argentina cayó entre 2020 y 2024.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1234440" y="2148840"/>
            <a:ext cx="0" cy="2331720"/>
          </a:xfrm>
          <a:prstGeom prst="line">
            <a:avLst/>
          </a:prstGeom>
          <a:noFill/>
          <a:ln w="31750">
            <a:solidFill>
              <a:srgbClr val="E8EEF2"/>
            </a:solidFill>
            <a:prstDash val="dash"/>
          </a:ln>
        </p:spPr>
      </p:sp>
      <p:sp>
        <p:nvSpPr>
          <p:cNvPr id="8" name="Shape 5"/>
          <p:cNvSpPr/>
          <p:nvPr/>
        </p:nvSpPr>
        <p:spPr>
          <a:xfrm>
            <a:off x="914400" y="1892808"/>
            <a:ext cx="457200" cy="457200"/>
          </a:xfrm>
          <a:prstGeom prst="ellipse">
            <a:avLst/>
          </a:prstGeom>
          <a:solidFill>
            <a:srgbClr val="1A6B8A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600200" y="1874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Obtener datos de salarios nominales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600200" y="213055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INDEC, Cuenta Generacion del Ingreso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914400" y="2395728"/>
            <a:ext cx="457200" cy="457200"/>
          </a:xfrm>
          <a:prstGeom prst="ellipse">
            <a:avLst/>
          </a:prstGeom>
          <a:solidFill>
            <a:srgbClr val="1A6B8A"/>
          </a:solidFill>
          <a:ln/>
        </p:spPr>
      </p:sp>
      <p:sp>
        <p:nvSpPr>
          <p:cNvPr id="13" name="Text 10"/>
          <p:cNvSpPr/>
          <p:nvPr/>
        </p:nvSpPr>
        <p:spPr>
          <a:xfrm>
            <a:off x="914400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600200" y="23774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Obtener datos de inflación (IPC)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600200" y="263347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INDEC, indices de precios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914400" y="2898648"/>
            <a:ext cx="457200" cy="457200"/>
          </a:xfrm>
          <a:prstGeom prst="ellipse">
            <a:avLst/>
          </a:prstGeom>
          <a:solidFill>
            <a:srgbClr val="1A6B8A"/>
          </a:solidFill>
          <a:ln/>
        </p:spPr>
      </p:sp>
      <p:sp>
        <p:nvSpPr>
          <p:cNvPr id="17" name="Text 14"/>
          <p:cNvSpPr/>
          <p:nvPr/>
        </p:nvSpPr>
        <p:spPr>
          <a:xfrm>
            <a:off x="914400" y="2898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600200" y="2880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Calcular salario real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1600200" y="313639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Salario real = Salario nominal / IPC * 100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914400" y="3401568"/>
            <a:ext cx="457200" cy="457200"/>
          </a:xfrm>
          <a:prstGeom prst="ellipse">
            <a:avLst/>
          </a:prstGeom>
          <a:solidFill>
            <a:srgbClr val="1A6B8A"/>
          </a:solidFill>
          <a:ln/>
        </p:spPr>
      </p:sp>
      <p:sp>
        <p:nvSpPr>
          <p:cNvPr id="21" name="Text 18"/>
          <p:cNvSpPr/>
          <p:nvPr/>
        </p:nvSpPr>
        <p:spPr>
          <a:xfrm>
            <a:off x="914400" y="3401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600200" y="33832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Comparar los valores 2020 vs 2024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1600200" y="363931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variación porcentual y testear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914400" y="3904488"/>
            <a:ext cx="457200" cy="457200"/>
          </a:xfrm>
          <a:prstGeom prst="ellipse">
            <a:avLst/>
          </a:prstGeom>
          <a:solidFill>
            <a:srgbClr val="1A6B8A"/>
          </a:solidFill>
          <a:ln/>
        </p:spPr>
      </p:sp>
      <p:sp>
        <p:nvSpPr>
          <p:cNvPr id="25" name="Text 22"/>
          <p:cNvSpPr/>
          <p:nvPr/>
        </p:nvSpPr>
        <p:spPr>
          <a:xfrm>
            <a:off x="914400" y="3904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1600200" y="38862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Visualizar y concluir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1600200" y="414223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Grafico de linea temporal + interpretacion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6035040" y="1874520"/>
            <a:ext cx="2468880" cy="2514600"/>
          </a:xfrm>
          <a:prstGeom prst="rect">
            <a:avLst/>
          </a:prstGeom>
          <a:solidFill>
            <a:srgbClr val="D6EAF2">
              <a:alpha val="70000"/>
            </a:srgbClr>
          </a:solidFill>
          <a:ln/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2057400"/>
            <a:ext cx="502920" cy="50292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6217920" y="26060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Clave</a:t>
            </a:r>
            <a:endParaRPr lang="en-US" sz="1500" dirty="0"/>
          </a:p>
        </p:txBody>
      </p:sp>
      <p:sp>
        <p:nvSpPr>
          <p:cNvPr id="31" name="Text 27"/>
          <p:cNvSpPr/>
          <p:nvPr/>
        </p:nvSpPr>
        <p:spPr>
          <a:xfrm>
            <a:off x="6217920" y="2971800"/>
            <a:ext cx="2103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paso es lo suficientemente simple como para resolverse de forma independiente. Eso es descomponer un problema.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2B46"/>
          </a:solidFill>
          <a:ln/>
        </p:spPr>
      </p:sp>
      <p:sp>
        <p:nvSpPr>
          <p:cNvPr id="33" name="Text 29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DC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Ciencia de Datos para Economía y Negocios  |  FCE-UBA  |  Nicolás Sidicaro</a:t>
            </a:r>
            <a:endParaRPr lang="en-US" sz="850" dirty="0"/>
          </a:p>
        </p:txBody>
      </p:sp>
      <p:sp>
        <p:nvSpPr>
          <p:cNvPr id="34" name="Text 30"/>
          <p:cNvSpPr/>
          <p:nvPr/>
        </p:nvSpPr>
        <p:spPr>
          <a:xfrm>
            <a:off x="8046720" y="4709160"/>
            <a:ext cx="914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963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Tipos de Datos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información que maneja una computadora se clasifica en tipos. Entender esto es fundamental antes de programar.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7863840" cy="365760"/>
          </a:xfrm>
          <a:prstGeom prst="rect">
            <a:avLst/>
          </a:prstGeom>
          <a:solidFill>
            <a:srgbClr val="0F2B4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173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Tipo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560320" y="1417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Ejemplo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4632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Ejemplo en economia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783080"/>
            <a:ext cx="78638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7830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Numérico (entero)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06040" y="17830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6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42, -3, 2024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937760" y="1783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Año, cantidad de empleados, ranking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2240280"/>
            <a:ext cx="7863840" cy="457200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2402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Numérico (decimal)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06040" y="22402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6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3.14, 0.05, -2.7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937760" y="22402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PBI, tasa de interes, inflación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2697480"/>
            <a:ext cx="78638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26974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Texto (cadena)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606040" y="26974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6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"Buenos Aires", "INDEC"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937760" y="26974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de provincia, sector, fuente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" y="3154680"/>
            <a:ext cx="7863840" cy="457200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31546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Lógico (booleano)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606040" y="31546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6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VERDADERO, FALSO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937760" y="31546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Es_exportador, tiene_empleo_formal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0080" y="3611880"/>
            <a:ext cx="78638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36118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Fecha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606040" y="36118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6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2024-03-15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937760" y="3611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de publicación, trimestre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0080" y="4069080"/>
            <a:ext cx="7863840" cy="457200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" y="40690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Categórico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606040" y="40690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6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Alto / Medio / Bajo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937760" y="4069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educativo, tramo salarial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2B46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DC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Ciencia de Datos para Economía y Negocios  |  FCE-UBA  |  Nicolás Sidicaro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8046720" y="4709160"/>
            <a:ext cx="914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963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Variables y Asignación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3886200" cy="3337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051560"/>
            <a:ext cx="3886200" cy="54864"/>
          </a:xfrm>
          <a:prstGeom prst="rect">
            <a:avLst/>
          </a:prstGeom>
          <a:solidFill>
            <a:srgbClr val="1A6B8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23444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variable es un "nombre" que le damos a un valor para poder usarlo después.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1828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Pensalo como una caja con etiqueta: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51560" y="2286000"/>
            <a:ext cx="1463040" cy="457200"/>
          </a:xfrm>
          <a:prstGeom prst="rect">
            <a:avLst/>
          </a:prstGeom>
          <a:solidFill>
            <a:srgbClr val="D6EAF2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22860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2B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salario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560320" y="22860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9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971800" y="2286000"/>
            <a:ext cx="1325880" cy="457200"/>
          </a:xfrm>
          <a:prstGeom prst="rect">
            <a:avLst/>
          </a:prstGeom>
          <a:solidFill>
            <a:srgbClr val="1A6B8A">
              <a:alpha val="1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2971800" y="228600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6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150000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051560" y="2926080"/>
            <a:ext cx="1463040" cy="457200"/>
          </a:xfrm>
          <a:prstGeom prst="rect">
            <a:avLst/>
          </a:prstGeom>
          <a:solidFill>
            <a:srgbClr val="D6EAF2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2926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2B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provincia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560320" y="29260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9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971800" y="2926080"/>
            <a:ext cx="1325880" cy="457200"/>
          </a:xfrm>
          <a:prstGeom prst="rect">
            <a:avLst/>
          </a:prstGeom>
          <a:solidFill>
            <a:srgbClr val="1A6B8A">
              <a:alpha val="1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2971800" y="29260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6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"CABA"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051560" y="3566160"/>
            <a:ext cx="1463040" cy="457200"/>
          </a:xfrm>
          <a:prstGeom prst="rect">
            <a:avLst/>
          </a:prstGeom>
          <a:solidFill>
            <a:srgbClr val="D6EAF2"/>
          </a:solidFill>
          <a:ln/>
        </p:spPr>
      </p:sp>
      <p:sp>
        <p:nvSpPr>
          <p:cNvPr id="19" name="Text 17"/>
          <p:cNvSpPr/>
          <p:nvPr/>
        </p:nvSpPr>
        <p:spPr>
          <a:xfrm>
            <a:off x="1051560" y="35661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2B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es_formal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560320" y="35661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9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2971800" y="3566160"/>
            <a:ext cx="1325880" cy="457200"/>
          </a:xfrm>
          <a:prstGeom prst="rect">
            <a:avLst/>
          </a:prstGeom>
          <a:solidFill>
            <a:srgbClr val="1A6B8A">
              <a:alpha val="1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2971800" y="356616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6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VERDADERO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800600" y="1051560"/>
            <a:ext cx="3703320" cy="3337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00600" y="1051560"/>
            <a:ext cx="3703320" cy="54864"/>
          </a:xfrm>
          <a:prstGeom prst="rect">
            <a:avLst/>
          </a:prstGeom>
          <a:solidFill>
            <a:srgbClr val="2E9EBF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0" y="12344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Buenas prácticas para nombres</a:t>
            </a:r>
            <a:endParaRPr lang="en-US" sz="1400" dirty="0"/>
          </a:p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1737360"/>
            <a:ext cx="256032" cy="256032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5349240" y="16916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78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salario_real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6858000" y="16916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x1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5349240" y="19842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descriptivo</a:t>
            </a:r>
            <a:endParaRPr lang="en-US" sz="950" dirty="0"/>
          </a:p>
        </p:txBody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377440"/>
            <a:ext cx="256032" cy="256032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5349240" y="23317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78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tasa_desempleo</a:t>
            </a:r>
            <a:endParaRPr lang="en-US" sz="1050" dirty="0"/>
          </a:p>
        </p:txBody>
      </p:sp>
      <p:sp>
        <p:nvSpPr>
          <p:cNvPr id="32" name="Text 28"/>
          <p:cNvSpPr/>
          <p:nvPr/>
        </p:nvSpPr>
        <p:spPr>
          <a:xfrm>
            <a:off x="6858000" y="23317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td</a:t>
            </a:r>
            <a:endParaRPr lang="en-US" sz="1050" dirty="0"/>
          </a:p>
        </p:txBody>
      </p:sp>
      <p:sp>
        <p:nvSpPr>
          <p:cNvPr id="33" name="Text 29"/>
          <p:cNvSpPr/>
          <p:nvPr/>
        </p:nvSpPr>
        <p:spPr>
          <a:xfrm>
            <a:off x="5349240" y="26243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 abreviaturas</a:t>
            </a:r>
            <a:endParaRPr lang="en-US" sz="950" dirty="0"/>
          </a:p>
        </p:txBody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3017520"/>
            <a:ext cx="256032" cy="256032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5349240" y="2971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78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año_base</a:t>
            </a:r>
            <a:endParaRPr lang="en-US" sz="1050" dirty="0"/>
          </a:p>
        </p:txBody>
      </p:sp>
      <p:sp>
        <p:nvSpPr>
          <p:cNvPr id="36" name="Text 31"/>
          <p:cNvSpPr/>
          <p:nvPr/>
        </p:nvSpPr>
        <p:spPr>
          <a:xfrm>
            <a:off x="6858000" y="29718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Año Base</a:t>
            </a:r>
            <a:endParaRPr lang="en-US" sz="1050" dirty="0"/>
          </a:p>
        </p:txBody>
      </p:sp>
      <p:sp>
        <p:nvSpPr>
          <p:cNvPr id="37" name="Text 32"/>
          <p:cNvSpPr/>
          <p:nvPr/>
        </p:nvSpPr>
        <p:spPr>
          <a:xfrm>
            <a:off x="5349240" y="32644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espacios, minusculas</a:t>
            </a:r>
            <a:endParaRPr lang="en-US" sz="950" dirty="0"/>
          </a:p>
        </p:txBody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657600"/>
            <a:ext cx="256032" cy="256032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5349240" y="36118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78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pbi_per_capita</a:t>
            </a:r>
            <a:endParaRPr lang="en-US" sz="1050" dirty="0"/>
          </a:p>
        </p:txBody>
      </p:sp>
      <p:sp>
        <p:nvSpPr>
          <p:cNvPr id="40" name="Text 34"/>
          <p:cNvSpPr/>
          <p:nvPr/>
        </p:nvSpPr>
        <p:spPr>
          <a:xfrm>
            <a:off x="6858000" y="3611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3er_dato</a:t>
            </a:r>
            <a:endParaRPr lang="en-US" sz="1050" dirty="0"/>
          </a:p>
        </p:txBody>
      </p:sp>
      <p:sp>
        <p:nvSpPr>
          <p:cNvPr id="41" name="Text 35"/>
          <p:cNvSpPr/>
          <p:nvPr/>
        </p:nvSpPr>
        <p:spPr>
          <a:xfrm>
            <a:off x="5349240" y="39044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empezar con números</a:t>
            </a:r>
            <a:endParaRPr lang="en-US" sz="950" dirty="0"/>
          </a:p>
        </p:txBody>
      </p:sp>
      <p:sp>
        <p:nvSpPr>
          <p:cNvPr id="42" name="Shape 36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2B46"/>
          </a:solidFill>
          <a:ln/>
        </p:spPr>
      </p:sp>
      <p:sp>
        <p:nvSpPr>
          <p:cNvPr id="43" name="Text 37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DC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Ciencia de Datos para Economía y Negocios  |  FCE-UBA  |  Nicolás Sidicaro</a:t>
            </a:r>
            <a:endParaRPr lang="en-US" sz="850" dirty="0"/>
          </a:p>
        </p:txBody>
      </p:sp>
      <p:sp>
        <p:nvSpPr>
          <p:cNvPr id="44" name="Text 38"/>
          <p:cNvSpPr/>
          <p:nvPr/>
        </p:nvSpPr>
        <p:spPr>
          <a:xfrm>
            <a:off x="8046720" y="4709160"/>
            <a:ext cx="914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963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Estructuras de Datos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rara vez vienen solos. Se agrupan en estructuras que permiten organizarlos.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78638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17320"/>
            <a:ext cx="54864" cy="914400"/>
          </a:xfrm>
          <a:prstGeom prst="rect">
            <a:avLst/>
          </a:prstGeom>
          <a:solidFill>
            <a:srgbClr val="1A6B8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490472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Vector / Lista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554480" y="17830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secuencia ordenada de valores del mismo tipo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943600" y="1554480"/>
            <a:ext cx="2377440" cy="594360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11" name="Text 8"/>
          <p:cNvSpPr/>
          <p:nvPr/>
        </p:nvSpPr>
        <p:spPr>
          <a:xfrm>
            <a:off x="6035040" y="155448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6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salarios = [150000, 200000, 180000, 220000]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40080" y="2468880"/>
            <a:ext cx="78638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40080" y="2468880"/>
            <a:ext cx="54864" cy="914400"/>
          </a:xfrm>
          <a:prstGeom prst="rect">
            <a:avLst/>
          </a:prstGeom>
          <a:solidFill>
            <a:srgbClr val="E8963E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542032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554480" y="2514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Tabla / Data Frame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1554480" y="28346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Filas (observaciones) y columnas (variables). La estructura mas común en Ciencia de Datos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943600" y="2606040"/>
            <a:ext cx="2377440" cy="594360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18" name="Text 14"/>
          <p:cNvSpPr/>
          <p:nvPr/>
        </p:nvSpPr>
        <p:spPr>
          <a:xfrm>
            <a:off x="6035040" y="260604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6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Tabla con columnas: provincia, año, pbi, poblacion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640080" y="3520440"/>
            <a:ext cx="78638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3520440"/>
            <a:ext cx="54864" cy="914400"/>
          </a:xfrm>
          <a:prstGeom prst="rect">
            <a:avLst/>
          </a:prstGeom>
          <a:solidFill>
            <a:srgbClr val="1A6B8A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593592"/>
            <a:ext cx="457200" cy="4572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554480" y="3566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Matriz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1554480" y="38862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numerica sin nombres de columna. Util para calculos matemáticos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5943600" y="3657600"/>
            <a:ext cx="2377440" cy="594360"/>
          </a:xfrm>
          <a:prstGeom prst="rect">
            <a:avLst/>
          </a:prstGeom>
          <a:solidFill>
            <a:srgbClr val="E8EEF2"/>
          </a:solidFill>
          <a:ln/>
        </p:spPr>
      </p:sp>
      <p:sp>
        <p:nvSpPr>
          <p:cNvPr id="25" name="Text 20"/>
          <p:cNvSpPr/>
          <p:nvPr/>
        </p:nvSpPr>
        <p:spPr>
          <a:xfrm>
            <a:off x="6035040" y="365760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6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Matriz de correlaciones entre variables economicas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2B46"/>
          </a:solidFill>
          <a:ln/>
        </p:spPr>
      </p:sp>
      <p:sp>
        <p:nvSpPr>
          <p:cNvPr id="27" name="Text 22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DC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Ciencia de Datos para Economía y Negocios  |  FCE-UBA  |  Nicolás Sidicaro</a:t>
            </a:r>
            <a:endParaRPr lang="en-US" sz="850" dirty="0"/>
          </a:p>
        </p:txBody>
      </p:sp>
      <p:sp>
        <p:nvSpPr>
          <p:cNvPr id="28" name="Text 23"/>
          <p:cNvSpPr/>
          <p:nvPr/>
        </p:nvSpPr>
        <p:spPr>
          <a:xfrm>
            <a:off x="8046720" y="4709160"/>
            <a:ext cx="914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963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Algoritmos: una receta para resolver problemas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3886200" cy="1417320"/>
          </a:xfrm>
          <a:prstGeom prst="rect">
            <a:avLst/>
          </a:prstGeom>
          <a:solidFill>
            <a:srgbClr val="0F2B4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1887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14300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algoritmo es una secuencia finita, ordenada y no ambigua de instrucciones que resuelve un problema.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800600" y="1051560"/>
            <a:ext cx="370332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800600" y="1051560"/>
            <a:ext cx="3703320" cy="54864"/>
          </a:xfrm>
          <a:prstGeom prst="rect">
            <a:avLst/>
          </a:prstGeom>
          <a:solidFill>
            <a:srgbClr val="2E9EBF"/>
          </a:solidFill>
          <a:ln/>
        </p:spPr>
      </p:sp>
      <p:sp>
        <p:nvSpPr>
          <p:cNvPr id="9" name="Text 6"/>
          <p:cNvSpPr/>
          <p:nvPr/>
        </p:nvSpPr>
        <p:spPr>
          <a:xfrm>
            <a:off x="4983480" y="11887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Propiedades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983480" y="1508760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 un inicio y un fin claros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paso es preciso e inequivoco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un resultado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para cualquier input valido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40080" y="26974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Ejemplo cotidiano: hacer una tortilla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1325880" y="3429000"/>
            <a:ext cx="6858000" cy="0"/>
          </a:xfrm>
          <a:prstGeom prst="line">
            <a:avLst/>
          </a:prstGeom>
          <a:noFill/>
          <a:ln w="25400">
            <a:solidFill>
              <a:srgbClr val="E8EEF2"/>
            </a:solidFill>
            <a:prstDash val="dash"/>
          </a:ln>
        </p:spPr>
      </p:sp>
      <p:sp>
        <p:nvSpPr>
          <p:cNvPr id="13" name="Shape 10"/>
          <p:cNvSpPr/>
          <p:nvPr/>
        </p:nvSpPr>
        <p:spPr>
          <a:xfrm>
            <a:off x="1051560" y="3182112"/>
            <a:ext cx="457200" cy="457200"/>
          </a:xfrm>
          <a:prstGeom prst="ellipse">
            <a:avLst/>
          </a:prstGeom>
          <a:solidFill>
            <a:srgbClr val="1A6B8A"/>
          </a:solidFill>
          <a:ln/>
        </p:spPr>
      </p:sp>
      <p:sp>
        <p:nvSpPr>
          <p:cNvPr id="14" name="Text 11"/>
          <p:cNvSpPr/>
          <p:nvPr/>
        </p:nvSpPr>
        <p:spPr>
          <a:xfrm>
            <a:off x="1051560" y="3182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40080" y="370332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Tomar 3 huevos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2468880" y="3182112"/>
            <a:ext cx="457200" cy="457200"/>
          </a:xfrm>
          <a:prstGeom prst="ellipse">
            <a:avLst/>
          </a:prstGeom>
          <a:solidFill>
            <a:srgbClr val="1A6B8A"/>
          </a:solidFill>
          <a:ln/>
        </p:spPr>
      </p:sp>
      <p:sp>
        <p:nvSpPr>
          <p:cNvPr id="17" name="Text 14"/>
          <p:cNvSpPr/>
          <p:nvPr/>
        </p:nvSpPr>
        <p:spPr>
          <a:xfrm>
            <a:off x="2468880" y="3182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2057400" y="370332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Romper los huevos en un bowl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3886200" y="3182112"/>
            <a:ext cx="457200" cy="457200"/>
          </a:xfrm>
          <a:prstGeom prst="ellipse">
            <a:avLst/>
          </a:prstGeom>
          <a:solidFill>
            <a:srgbClr val="1A6B8A"/>
          </a:solidFill>
          <a:ln/>
        </p:spPr>
      </p:sp>
      <p:sp>
        <p:nvSpPr>
          <p:cNvPr id="20" name="Text 17"/>
          <p:cNvSpPr/>
          <p:nvPr/>
        </p:nvSpPr>
        <p:spPr>
          <a:xfrm>
            <a:off x="3886200" y="3182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3474720" y="370332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Batir hasta mezclar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303520" y="3182112"/>
            <a:ext cx="457200" cy="457200"/>
          </a:xfrm>
          <a:prstGeom prst="ellipse">
            <a:avLst/>
          </a:prstGeom>
          <a:solidFill>
            <a:srgbClr val="1A6B8A"/>
          </a:solidFill>
          <a:ln/>
        </p:spPr>
      </p:sp>
      <p:sp>
        <p:nvSpPr>
          <p:cNvPr id="23" name="Text 20"/>
          <p:cNvSpPr/>
          <p:nvPr/>
        </p:nvSpPr>
        <p:spPr>
          <a:xfrm>
            <a:off x="5303520" y="3182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4892040" y="370332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Calentar sarten con aceite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6720840" y="3182112"/>
            <a:ext cx="457200" cy="457200"/>
          </a:xfrm>
          <a:prstGeom prst="ellipse">
            <a:avLst/>
          </a:prstGeom>
          <a:solidFill>
            <a:srgbClr val="1A6B8A"/>
          </a:solidFill>
          <a:ln/>
        </p:spPr>
      </p:sp>
      <p:sp>
        <p:nvSpPr>
          <p:cNvPr id="26" name="Text 23"/>
          <p:cNvSpPr/>
          <p:nvPr/>
        </p:nvSpPr>
        <p:spPr>
          <a:xfrm>
            <a:off x="6720840" y="3182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6309360" y="370332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Verter la mezcla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8138160" y="3182112"/>
            <a:ext cx="457200" cy="457200"/>
          </a:xfrm>
          <a:prstGeom prst="ellipse">
            <a:avLst/>
          </a:prstGeom>
          <a:solidFill>
            <a:srgbClr val="1A6B8A"/>
          </a:solidFill>
          <a:ln/>
        </p:spPr>
      </p:sp>
      <p:sp>
        <p:nvSpPr>
          <p:cNvPr id="29" name="Text 26"/>
          <p:cNvSpPr/>
          <p:nvPr/>
        </p:nvSpPr>
        <p:spPr>
          <a:xfrm>
            <a:off x="8138160" y="3182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7726680" y="370332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Cocinar 2 min por lado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2B46"/>
          </a:solidFill>
          <a:ln/>
        </p:spPr>
      </p:sp>
      <p:sp>
        <p:nvSpPr>
          <p:cNvPr id="32" name="Text 29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DC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Ciencia de Datos para Economía y Negocios  |  FCE-UBA  |  Nicolás Sidicaro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8046720" y="4709160"/>
            <a:ext cx="914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963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Pseudocódigo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una forma de escribir algoritmos en lenguaje natural estructurado, sin preocuparnos por la sintaxis de ningún lenguaje de programación.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4023360" cy="2834640"/>
          </a:xfrm>
          <a:prstGeom prst="rect">
            <a:avLst/>
          </a:prstGeom>
          <a:solidFill>
            <a:srgbClr val="091E3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645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89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Ejemplo: calcular promedio de salarios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22960" y="2011680"/>
            <a:ext cx="36576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INICIO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LEER lista_salarios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suma ← 0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contador ← 0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PARA CADA salario EN lista_salarios: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suma ← suma + salario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contador ← contador + 1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promedio ← suma / contador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MOSTRAR promedio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937760" y="1554480"/>
            <a:ext cx="3566160" cy="2834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37760" y="1554480"/>
            <a:ext cx="3566160" cy="54864"/>
          </a:xfrm>
          <a:prstGeom prst="rect">
            <a:avLst/>
          </a:prstGeom>
          <a:solidFill>
            <a:srgbClr val="1A6B8A"/>
          </a:solidFill>
          <a:ln/>
        </p:spPr>
      </p:sp>
      <p:sp>
        <p:nvSpPr>
          <p:cNvPr id="10" name="Text 8"/>
          <p:cNvSpPr/>
          <p:nvPr/>
        </p:nvSpPr>
        <p:spPr>
          <a:xfrm>
            <a:off x="5120640" y="16916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Palabras clave del pseudocódigo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120640" y="2103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6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INICIO / FIN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675120" y="2103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Delimitan el algoritmo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120640" y="24048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6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675120" y="24048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Recibir datos de entrada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120640" y="270662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6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MOSTRAR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675120" y="270662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Presentar un resultado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120640" y="30083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6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675120" y="300837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Asignar un valor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120640" y="33101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6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 CADA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675120" y="33101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Repetir para cada elemento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120640" y="36118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6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 ... ENTONCES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675120" y="3611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condicional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120640" y="39136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6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MIENTRAS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675120" y="39136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Repetir mientras se cumpla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2B46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DC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Ciencia de Datos para Economía y Negocios  |  FCE-UBA  |  Nicolás Sidicaro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046720" y="4709160"/>
            <a:ext cx="914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963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Estructuras de Control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las herramientas que nos permiten controlar el flujo de un algoritmo: decidir, repetir y organizar.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2606040" cy="2971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17320"/>
            <a:ext cx="2606040" cy="54864"/>
          </a:xfrm>
          <a:prstGeom prst="rect">
            <a:avLst/>
          </a:prstGeom>
          <a:solidFill>
            <a:srgbClr val="1A6B8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544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Secuencia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196596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pasos se ejecutan uno tras otro, en orden.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77240" y="2560320"/>
            <a:ext cx="2331720" cy="1554480"/>
          </a:xfrm>
          <a:prstGeom prst="rect">
            <a:avLst/>
          </a:prstGeom>
          <a:solidFill>
            <a:srgbClr val="091E32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651760"/>
            <a:ext cx="2057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LEER datos</a:t>
            </a:r>
            <a:endParaRPr lang="en-US" sz="10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calcular_promedio</a:t>
            </a:r>
            <a:endParaRPr lang="en-US" sz="10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MOSTRAR resultado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74720" y="1417320"/>
            <a:ext cx="2606040" cy="2971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74720" y="1417320"/>
            <a:ext cx="2606040" cy="54864"/>
          </a:xfrm>
          <a:prstGeom prst="rect">
            <a:avLst/>
          </a:prstGeom>
          <a:solidFill>
            <a:srgbClr val="2E9EBF"/>
          </a:solidFill>
          <a:ln/>
        </p:spPr>
      </p:sp>
      <p:sp>
        <p:nvSpPr>
          <p:cNvPr id="13" name="Text 11"/>
          <p:cNvSpPr/>
          <p:nvPr/>
        </p:nvSpPr>
        <p:spPr>
          <a:xfrm>
            <a:off x="3611880" y="15544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Condicional (SI)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11880" y="196596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elige un camino según una condición.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11880" y="2560320"/>
            <a:ext cx="2331720" cy="1554480"/>
          </a:xfrm>
          <a:prstGeom prst="rect">
            <a:avLst/>
          </a:prstGeom>
          <a:solidFill>
            <a:srgbClr val="091E32"/>
          </a:solidFill>
          <a:ln/>
        </p:spPr>
      </p:sp>
      <p:sp>
        <p:nvSpPr>
          <p:cNvPr id="16" name="Text 14"/>
          <p:cNvSpPr/>
          <p:nvPr/>
        </p:nvSpPr>
        <p:spPr>
          <a:xfrm>
            <a:off x="3749040" y="2651760"/>
            <a:ext cx="2057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 inflación &gt; 5%</a:t>
            </a:r>
            <a:endParaRPr lang="en-US" sz="10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ENTONCES alertar</a:t>
            </a:r>
            <a:endParaRPr lang="en-US" sz="10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SINO continuar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309360" y="1417320"/>
            <a:ext cx="2606040" cy="2971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09360" y="1417320"/>
            <a:ext cx="2606040" cy="54864"/>
          </a:xfrm>
          <a:prstGeom prst="rect">
            <a:avLst/>
          </a:prstGeom>
          <a:solidFill>
            <a:srgbClr val="E8963E"/>
          </a:solidFill>
          <a:ln/>
        </p:spPr>
      </p:sp>
      <p:sp>
        <p:nvSpPr>
          <p:cNvPr id="19" name="Text 17"/>
          <p:cNvSpPr/>
          <p:nvPr/>
        </p:nvSpPr>
        <p:spPr>
          <a:xfrm>
            <a:off x="6446520" y="15544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Repetición (PARA / MIENTRAS)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46520" y="196596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repite un bloque de instrucciones.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46520" y="2560320"/>
            <a:ext cx="2331720" cy="1554480"/>
          </a:xfrm>
          <a:prstGeom prst="rect">
            <a:avLst/>
          </a:prstGeom>
          <a:solidFill>
            <a:srgbClr val="091E32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0" y="2651760"/>
            <a:ext cx="2057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 CADA provincia</a:t>
            </a:r>
            <a:endParaRPr lang="en-US" sz="10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 lista_provincias:</a:t>
            </a:r>
            <a:endParaRPr lang="en-US" sz="10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calcular_pbi(provincia)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2B46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DC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Ciencia de Datos para Economía y Negocios  |  FCE-UBA  |  Nicolás Sidicaro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046720" y="4709160"/>
            <a:ext cx="914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963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Ejercicio práctico: escribí tu algoritmo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papel, sin computadora. Usa pseudocódigo.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78638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554480"/>
            <a:ext cx="548640" cy="548640"/>
          </a:xfrm>
          <a:prstGeom prst="ellipse">
            <a:avLst/>
          </a:prstGeom>
          <a:solidFill>
            <a:srgbClr val="1A6B8A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45920" y="141732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Clasificar alumnos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645920" y="1719072"/>
            <a:ext cx="6675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un listado de notas de estudiantes (0 a 10), escribí un algoritmo que clasifique a cada estudiante como "aprobado" (nota &gt;= 4), "promocionado" (nota &gt;= 7) o "desaprobado" (nota &lt; 4). Al final, mostrá cuántos hay en cada categoría.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2423160"/>
            <a:ext cx="78638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68680" y="2606040"/>
            <a:ext cx="548640" cy="548640"/>
          </a:xfrm>
          <a:prstGeom prst="ellipse">
            <a:avLst/>
          </a:prstGeom>
          <a:solidFill>
            <a:srgbClr val="1A6B8A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645920" y="246888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Canasta básica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645920" y="2770632"/>
            <a:ext cx="6675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Tenés una lista de productos con sus precios de enero y de febrero. Escribi un algoritmo que calcule la variación porcentual de cada producto y determine cual tuvo la mayor suba de precio.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3474720"/>
            <a:ext cx="78638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68680" y="3657600"/>
            <a:ext cx="548640" cy="548640"/>
          </a:xfrm>
          <a:prstGeom prst="ellipse">
            <a:avLst/>
          </a:prstGeom>
          <a:solidFill>
            <a:srgbClr val="1A6B8A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645920" y="352044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Filtrar provincias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645920" y="3822192"/>
            <a:ext cx="6675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Dada una tabla con provincias y su tasa de desempleo, escribí un algoritmo que seleccione solo las provincias con desempleo mayor al promedio nacional y las ordene de mayor a menor.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2B46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DC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Ciencia de Datos para Economía y Negocios  |  FCE-UBA  |  Nicolás Sidicaro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046720" y="4709160"/>
            <a:ext cx="914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B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96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36576" cy="5088636"/>
          </a:xfrm>
          <a:prstGeom prst="rect">
            <a:avLst/>
          </a:prstGeom>
          <a:solidFill>
            <a:srgbClr val="2E9EBF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5486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Resumen y próxima clase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0" y="1280160"/>
            <a:ext cx="2743200" cy="22860"/>
          </a:xfrm>
          <a:prstGeom prst="rect">
            <a:avLst/>
          </a:prstGeom>
          <a:solidFill>
            <a:srgbClr val="E8963E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554480"/>
            <a:ext cx="3749040" cy="237744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459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89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Hoy aprendimos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011680"/>
            <a:ext cx="33832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B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Pensamiento computacional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B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datos y variables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B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Estructuras de datos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B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y pseudocódigo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B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Estructuras de control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554480"/>
            <a:ext cx="3749040" cy="237744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69164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303520" y="16459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9E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Próxima clase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846320" y="21031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Introducción a R: entorno y sintaxis básica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846320" y="2560320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F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Instalación de R y RStudio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F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Variables, tipos de datos y vectores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F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Operadores y funciones básicas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F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primer script en R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1371600" y="4069080"/>
            <a:ext cx="6400800" cy="457200"/>
          </a:xfrm>
          <a:prstGeom prst="rect">
            <a:avLst/>
          </a:prstGeom>
          <a:solidFill>
            <a:srgbClr val="E8963E">
              <a:alpha val="80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1371600" y="40690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Tarea: instalar R y RStudio antes de la próxima clase  →  posit.co/download/rstudio-desktop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71520"/>
          </a:solidFill>
          <a:ln/>
        </p:spPr>
      </p:sp>
      <p:sp>
        <p:nvSpPr>
          <p:cNvPr id="17" name="Text 14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Ciencia de Datos para Economía y Negocios  |  FCE-UBA  |  Nicolás Sidicaro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Ciencia de Datos - Clase 2: Lógica de Programación</dc:title>
  <dc:subject>PptxGenJS Presentation</dc:subject>
  <dc:creator>Nicolás Sidicaro</dc:creator>
  <cp:lastModifiedBy>Nicolás Sidicaro</cp:lastModifiedBy>
  <cp:revision>1</cp:revision>
  <dcterms:created xsi:type="dcterms:W3CDTF">2026-03-02T02:06:40Z</dcterms:created>
  <dcterms:modified xsi:type="dcterms:W3CDTF">2026-03-02T02:06:40Z</dcterms:modified>
</cp:coreProperties>
</file>